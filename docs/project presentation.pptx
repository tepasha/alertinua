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переміщення сторінки клацніть мишею</a:t>
            </a:r>
            <a:endParaRPr lang="uk-U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uk-U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редагування формату приміток клацніть мишею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3B8442F-F501-4B35-A9D9-B248928EC3D9}" type="slidenum">
              <a:rPr lang="uk-U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uk-U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Шановні члени екзаменаційної комісії! Мене звати [ПІБ], я студент групи [група]. Представляю дипломний проєкт на тему «Розробка вбудованої системи моніторингу повітряних тривог на базі мікроконтролера ESP32». Мій науковий керівник — [ПІБ керівника].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49E0FC-3F77-436A-9756-1408F7CFB8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Повітряна тривога в Україні — частина щоденного життя. Люди стежать за нею через застосунки на смартфоні, але телефон буває розряджений, у беззвучному режимі або просто не під рукою. Потрібен окремий пристрій, який постійно працює, наприклад на столі чи біля входу. Він має з першого погляду показувати ситуацію по всій країні й подавати звуковий сигнал, коли тривога у вашій області. Готові рішення на кшталт настінних мап існують, але їх зазвичай роблять як аматорські проєкти. Там мало уваги приділяють надійності: пристрій може зависнути під час обриву Wi-Fi чи після некоректної відповіді сервера, і тоді показує застарілі дані. Для пристрою, який сповіщає про небезпеку, це неприйнятно.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D638A5-19F9-44B5-A025-23DB113146F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Мета роботи — розробити автономний пристрій, який у реальному часі показує карту повітряних тривог України і стабільно працює без втручання користувача. Для цього я поставив такі задачі: отримувати дані з офіційного API сервісу alerts.in.ua; відображати на дисплеї карту областей з тривогами; сповіщати звуком про тривогу у вибраній області; забезпечити налаштування пристрою без перепрошивки; гарантувати стабільну роботу при збоях мережі й сервера; покрити ключову логіку автоматичними тестами.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837ED2-53AE-47B5-88CD-387D80BD88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Основа пристрою — плата LILYGO T-Display з мікроконтролером ESP32 і кольоровим дисплеєм ST7789 на 240×135 пікселів. ESP32 я вибрав, бо він має вбудований Wi-Fi, два ядра й апаратну підтримку TLS за невисокої ціни. До плати підключено: п'єзозумер для сирени, що керується через ШІМ (модуль LEDC); фоторезистор на вході АЦП для автоматичного регулювання яскравості; два світлодіоди для індикації стану системи й Wi-Fi; вбудовану кнопку BOOT, через яку вмикається режим налаштування; акумулятор Li-Pol 602030 на 3.7 В і 300 мА·год із платою захисту — у штатний роз'єм плати, його заряд плата вимірює на GPIO34 і показує на веб-сторінці.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103F5E-7E20-45A7-BF61-A851F7410A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Зовнішніх деталей небагато. Дисплей, його підсвітка й кнопка BOOT уже є на самій платі. Ліворуч, біля GPIO2 і GPIO15, — світлодіоди: тривоги через резистор 330 Ом на GPIO2 і Wi-Fi через 330 Ом на GPIO15. Праворуч — датчик освітлення і зумер. Фоторезистор і резистор 10 кОм утворюють дільник напруги, середня точка йде на GPIO33 — це вхід ADC1, бо АЦП другого блоку під час роботи Wi-Fi недоступний. Живлення 3V3 для дільника береться з лівого боку плати. Пасивний п'єзозумер підключено через резистор 220 Ом до GPIO25 (ШІМ). Знизу — акумулятор Li-Pol 602030, 3.7 В, 300 мА·год із платою захисту. Він вставляється у штатний роз'єм BAT, заряджається від USB вбудованим контролером. Напругу батареї плата подає на GPIO34 через дільник, тож для показника заряду додаткові дроти не потрібні. У розриві червоного проводу «+» стоїть вимикач живлення з фіксацією SW2: ним пристрій вимикається, коли працює від батареї.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E2BC08-4B51-433A-933B-0C28A5E86D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Програмне забезпечення написано мовою C на фреймворку ESP-IDF у середовищі PlatformIO. В основі — операційна система реального часу FreeRTOS. Чому не простий нескінченний цикл? Пристрій має одночасно тримати Wi-Fi, робити мережеві запити, що можуть тривати секунди, малювати на дисплеї, реагувати на кнопку і регулювати яскравість. В одному циклі повільний HTTP-запит блокував би все інше. Тому систему розбито на сім задач FreeRTOS, у кожної своя відповідальність. Головний потік даних: fetch_task отримує дані з API й кладе результат у чергу, render_task забирає його, малює карту і за потреби вмикає сирену. Паралельно працюють задачі Wi-Fi, сирени, кнопки, яскравості та моніторингу. Задачі обмінюються даними через черги FreeRTOS, а спільний стан захищено м'ютексом. Код поділено на незалежні компоненти: драйвери обладнання окремо, задачі окремо.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166EBC-7826-4961-9873-23702444F6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Спершу я використовував загальний ендпоінт API, який повертає повний список тривог у форматі JSON. Під час масових тривог така відповідь виявилася завеликою для пам'яті мікроконтролера. До того ж вона містила й інші типи загроз, наприклад загрозу артобстрілу. Тому я перейшов на спеціальний IoT-ендпоінт alerts.in.ua. Він повертає рядок лише з 27 символів, по одному на кожну область: A — тривога по всій області, P — у частині області, N — тривоги немає. Відповідь займає близько 30 байт замість кількох десятків кілобайт. На дисплеї червоним позначено області, де тривога на всю територію, янтарним — області з частковою тривогою. Якщо дані отримати не вдалося, на екрані напис ERR. Важливе рішення: кожен кадр малюється з нуля. Застарілі дані не лишаються на екрані після помилки, бо показати користувачу стару «відсутність тривоги» небезпечніше, ніж чесно показати помилку.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7A60A4-4CE0-4AB7-BA24-ED51D7ECAD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Надійності я приділив найбільше уваги. Watchdog-таймер: кожна задача підписана на апаратний сторожовий таймер. Якщо будь-яка задача зависне, пристрій сам перезавантажиться. Усі довгі очікування розбито на короткі інтервали, щоб таймер не спрацьовував хибно. Валідація даних: парсер відхиляє будь-яку некоректну відповідь — неправильну довжину, невідомий символ, зіпсований JSON. Мережа: перепідключення з експоненційною затримкою від 2 до 60 секунд, щоб не перевантажувати мережу. Після серії невдач пристрій сам переходить у режим налаштування. Безпека: з'єднання з API захищене TLS з перевіркою сертифіката. API-токен зберігається у файлі .env, який не потрапляє в систему контролю версій.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CD336D-FEC9-45AB-A9AD-06B35D996C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Налаштувати пристрій може будь-хто без програмування. Досить утримати кнопку три секунди, і пристрій створить власну Wi-Fi-мережу з веб-сторінкою. На ній можна вибрати свою область і домашню мережу. Налаштування зберігаються в енергонезалежній пам'яті (NVS). Яскравість підсвітки регулюється замкненим контуром керування: ПІ-регулятор з обмеженням інтегральної складової (anti-windup) порівнює бажану яскравість, яка залежить від освітлення, з поточною і плавно її коригує. Вночі дисплей не сліпить, а вдень його добре видно.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EC0D54-ACDB-4260-B2E6-4C9E3D286C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Ключову логіку винесено в «чисті» функції, які не залежать від обладнання. Тому їх можна тестувати на звичайному комп'ютері фреймворком Unity, тим самим, що вбудований в ESP-IDF. 16 тестів парсера відповіді API: пошкоджені дані, граничні випадки, відображення міст Київ і Севастополь на області. 9 тестів регулятора яскравості: збіжність, межі, anti-windup, поведінка при відмові датчика. Усі тести проходять успішно. Окремо підготовано набір тестів, які запускаються безпосередньо на мікроконтролері.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A024EF-719E-48B4-B2D3-8B0EB2219E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Отже, в межах проєкту: розроблено пристрій, який показує карту тривог по всіх областях України і подає звуковий сигнал для вибраної області; побудовано багатозадачну архітектуру на FreeRTOS із сімома задачами; реалізовано захист від зависань, збоїв мережі й некоректних даних; зроблено налаштування через веб-інтерфейс без перепрошивки; покрито ключову логіку автоматичними тестами. [Сюди варто додати виміряні на платі числа: час запиту, навантаження процесора з логу monitor_task, використання RAM і flash.]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439132-C2E3-45F3-9D6D-77A9E6343E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Проєкт можна розвивати далі: доступ до сторінки налаштувань у звичайному режимі роботи, за IP-адресою в домашній мережі; оновлення прошивки «по повітрю» (OTA); відображення інших типів загроз; власна друкована плата й корпус для серійного виготовлення.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2809D1-0252-448E-8D4F-C704DDD05E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Дякую за увагу! Готовий відповісти на ваші запитання. Можливі запитання: чому ESP32, а не Raspberry Pi; що буде, якщо API недоступний; як часто оновлюються дані; чому сирена лише при тривозі на всю область; як вирішено синхронізацію задач; навіщо ПІ-регулятор. Відповіді — у документі з промовою.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3BB0A8-79DE-4B84-80E9-1B367E20C0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uk-U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тексту заголовка клацніть мишею</a:t>
            </a:r>
            <a:endParaRPr lang="uk-U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редагування структури клацніть мишею</a:t>
            </a:r>
            <a:endParaRPr lang="uk-UA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Другий рівень структури</a:t>
            </a:r>
            <a:endParaRPr lang="uk-UA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Третій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Четвертий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П'ятий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Шостий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uk-UA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Сьомий рівень структури</a:t>
            </a:r>
            <a:endParaRPr lang="uk-UA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7.png"/><Relationship Id="rId3" Type="http://schemas.openxmlformats.org/officeDocument/2006/relationships/image" Target="../media/image7.png"/><Relationship Id="rId4" Type="http://schemas.openxmlformats.org/officeDocument/2006/relationships/image" Target="../media/image7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51920" cy="6857640"/>
          </a:xfrm>
          <a:prstGeom prst="rect">
            <a:avLst/>
          </a:prstGeom>
          <a:solidFill>
            <a:srgbClr val="E048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201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ДИПЛОМНИЙ ПРОЄКТ</a:t>
            </a:r>
            <a:endParaRPr lang="uk-U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12880" y="2430720"/>
            <a:ext cx="1088316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7999"/>
              </a:lnSpc>
              <a:tabLst>
                <a:tab pos="0" algn="l"/>
              </a:tabLst>
            </a:pPr>
            <a:r>
              <a:rPr lang="en-US" sz="8000" b="1" u="none" spc="-99" strike="noStrike">
                <a:solidFill>
                  <a:srgbClr val="F5F2EC"/>
                </a:solidFill>
                <a:effectLst/>
                <a:uFillTx/>
                <a:latin typeface="IBM Plex Sans"/>
                <a:ea typeface="IBM Plex Sans"/>
              </a:rPr>
              <a:t>alertinua</a:t>
            </a:r>
            <a:endParaRPr lang="uk-UA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12880" y="3700800"/>
            <a:ext cx="9810360" cy="7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Розробка вбудованої системи моніторингу повітряних тривог на базі мікроконтролера ESP32</a:t>
            </a:r>
            <a:endParaRPr lang="uk-UA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12880" y="583200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5B4"/>
                </a:solidFill>
                <a:effectLst/>
                <a:uFillTx/>
                <a:latin typeface="IBM Plex Sans"/>
                <a:ea typeface="IBM Plex Sans"/>
              </a:rPr>
              <a:t>Терехов Павло</a:t>
            </a:r>
            <a:endParaRPr lang="uk-U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АКТУАЛЬНІСТЬ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Навіщо окремий пристрій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816120" y="2040120"/>
            <a:ext cx="3380040" cy="4001400"/>
          </a:xfrm>
          <a:prstGeom prst="roundRect">
            <a:avLst>
              <a:gd name="adj" fmla="val 2912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1123920" y="2348280"/>
            <a:ext cx="284688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3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Телефон не завжди поруч</a:t>
            </a:r>
            <a:endParaRPr lang="uk-U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1123920" y="3117600"/>
            <a:ext cx="284688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Розряджений, у беззвучному режимі або в іншій кімнаті.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4405680" y="2040120"/>
            <a:ext cx="3380040" cy="4001400"/>
          </a:xfrm>
          <a:prstGeom prst="roundRect">
            <a:avLst>
              <a:gd name="adj" fmla="val 2912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4713840" y="2348280"/>
            <a:ext cx="284688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3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Карта з першого погляду</a:t>
            </a:r>
            <a:endParaRPr lang="uk-U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4713840" y="3117600"/>
            <a:ext cx="284688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Стан усіх областей одразу, без відкривання застосунків.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7995600" y="2040120"/>
            <a:ext cx="3380040" cy="4001400"/>
          </a:xfrm>
          <a:prstGeom prst="roundRect">
            <a:avLst>
              <a:gd name="adj" fmla="val 2912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8303760" y="2348280"/>
            <a:ext cx="2846880" cy="66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531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Надійність критична</a:t>
            </a:r>
            <a:endParaRPr lang="uk-U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8303760" y="3117600"/>
            <a:ext cx="284688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Зависання чи застарілі дані для сповіщувача неприйнятні.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МЕТА І ЗАДАЧІ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812880" y="1127880"/>
            <a:ext cx="10883160" cy="75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ts val="286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Автономний пристрій, що в реальному часі показує карту повітряних тривог України і стабільно працює без втручання користувача.</a:t>
            </a:r>
            <a:endParaRPr lang="uk-UA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"/>
          <p:cNvSpPr/>
          <p:nvPr/>
        </p:nvSpPr>
        <p:spPr>
          <a:xfrm>
            <a:off x="816120" y="2161800"/>
            <a:ext cx="3413880" cy="1011600"/>
          </a:xfrm>
          <a:prstGeom prst="roundRect">
            <a:avLst>
              <a:gd name="adj" fmla="val 9725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1022400" y="2368440"/>
            <a:ext cx="3090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01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022400" y="2703600"/>
            <a:ext cx="309096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Дані з API alerts.in.ua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5"/>
          <p:cNvSpPr/>
          <p:nvPr/>
        </p:nvSpPr>
        <p:spPr>
          <a:xfrm>
            <a:off x="4388760" y="2161800"/>
            <a:ext cx="3413880" cy="1011600"/>
          </a:xfrm>
          <a:prstGeom prst="roundRect">
            <a:avLst>
              <a:gd name="adj" fmla="val 9725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595040" y="2368440"/>
            <a:ext cx="30913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02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595040" y="2703600"/>
            <a:ext cx="30913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Карта областей з тривогами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7961760" y="2161800"/>
            <a:ext cx="3413880" cy="1011600"/>
          </a:xfrm>
          <a:prstGeom prst="roundRect">
            <a:avLst>
              <a:gd name="adj" fmla="val 9725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168040" y="2368440"/>
            <a:ext cx="30913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03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168040" y="2703600"/>
            <a:ext cx="309132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Сирена для вибраної області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1"/>
          <p:cNvSpPr/>
          <p:nvPr/>
        </p:nvSpPr>
        <p:spPr>
          <a:xfrm>
            <a:off x="816120" y="3332880"/>
            <a:ext cx="3413880" cy="1275840"/>
          </a:xfrm>
          <a:prstGeom prst="roundRect">
            <a:avLst>
              <a:gd name="adj" fmla="val 7712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1022400" y="3539160"/>
            <a:ext cx="3090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04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1022400" y="3874320"/>
            <a:ext cx="309096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Налаштування без перепрошивки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4"/>
          <p:cNvSpPr/>
          <p:nvPr/>
        </p:nvSpPr>
        <p:spPr>
          <a:xfrm>
            <a:off x="4388760" y="3332880"/>
            <a:ext cx="3413880" cy="1275840"/>
          </a:xfrm>
          <a:prstGeom prst="roundRect">
            <a:avLst>
              <a:gd name="adj" fmla="val 7712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4595040" y="3539160"/>
            <a:ext cx="30913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05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4595040" y="3874320"/>
            <a:ext cx="309132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Стабільність при збоях мережі й сервера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7961760" y="3332880"/>
            <a:ext cx="3413880" cy="1275840"/>
          </a:xfrm>
          <a:prstGeom prst="roundRect">
            <a:avLst>
              <a:gd name="adj" fmla="val 7712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8168040" y="3539160"/>
            <a:ext cx="30913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06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168040" y="3874320"/>
            <a:ext cx="309132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Автоматичні тести ключової логіки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АПАРАТНА ЧАСТИНА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LILYGO T-Display на ESP32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812880" y="1935360"/>
            <a:ext cx="3400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Вбудований Wi-Fi, два ядра й апаратний TLS за невисокої ціни.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812880" y="2656800"/>
            <a:ext cx="3400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Кольоровий дисплей ST7789, 240×135 пікселів.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0" name="Table 0"/>
          <p:cNvGraphicFramePr/>
          <p:nvPr/>
        </p:nvGraphicFramePr>
        <p:xfrm>
          <a:off x="4533840" y="1947960"/>
          <a:ext cx="6845040" cy="3074400"/>
        </p:xfrm>
        <a:graphic>
          <a:graphicData uri="http://schemas.openxmlformats.org/drawingml/2006/table">
            <a:tbl>
              <a:tblPr/>
              <a:tblGrid>
                <a:gridCol w="2601000"/>
                <a:gridCol w="3148560"/>
                <a:gridCol w="1095120"/>
              </a:tblGrid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Компонент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B5B3AF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B5B3AF"/>
                      </a:solidFill>
                      <a:prstDash val="soli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Призначення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B5B3AF"/>
                      </a:solidFill>
                      <a:prstDash val="solid"/>
                    </a:lnL>
                    <a:lnR w="12240">
                      <a:solidFill>
                        <a:srgbClr val="B5B3AF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B5B3AF"/>
                      </a:solidFill>
                      <a:prstDash val="solid"/>
                    </a:lnB>
                    <a:solidFill>
                      <a:srgbClr val="E3E0DB"/>
                    </a:solidFill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GPIO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B5B3AF"/>
                      </a:solidFill>
                      <a:prstDash val="solid"/>
                    </a:lnL>
                    <a:lnR w="12240">
                      <a:solidFill>
                        <a:srgbClr val="B5B3AF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B5B3AF"/>
                      </a:solidFill>
                      <a:prstDash val="solid"/>
                    </a:lnB>
                    <a:solidFill>
                      <a:srgbClr val="E3E0DB"/>
                    </a:solidFill>
                  </a:tcPr>
                </a:tc>
              </a:tr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П'єзозумер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B5B3AF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сирена, ШІМ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B5B3AF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25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B5B3AF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Фоторезистор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автояскравість, АЦП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33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Підсвітка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яскравість, ШІМ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4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Кнопка BOOT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режим налаштування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0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Світлодіоди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стан і Wi-Fi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2, 15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</a:tr>
              <a:tr h="439200"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Акумулятор Li-Pol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автономність, заряд у веб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920" tIns="70920" rIns="70920" bIns="70920" anchor="t">
                      <a:noAutofit/>
                    </a:bodyPr>
                    <a:p>
                      <a:pPr defTabSz="914400">
                        <a:lnSpc>
                          <a:spcPts val="2239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21821"/>
                          </a:solidFill>
                          <a:effectLst/>
                          <a:uFillTx/>
                          <a:latin typeface="IBM Plex Sans"/>
                          <a:ea typeface="IBM Plex Sans"/>
                        </a:rPr>
                        <a:t>34</a:t>
                      </a:r>
                      <a:endParaRPr lang="uk-UA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0920" marR="70920" marT="70920" marB="70920">
                    <a:lnL w="12240">
                      <a:solidFill>
                        <a:srgbClr val="C4C1BC"/>
                      </a:solidFill>
                      <a:prstDash val="solid"/>
                    </a:lnL>
                    <a:lnR w="12240">
                      <a:solidFill>
                        <a:srgbClr val="C4C1BC"/>
                      </a:solidFill>
                      <a:prstDash val="solid"/>
                    </a:lnR>
                    <a:lnT w="12240">
                      <a:solidFill>
                        <a:srgbClr val="C4C1BC"/>
                      </a:solidFill>
                      <a:prstDash val="solid"/>
                    </a:lnT>
                    <a:lnB w="12240">
                      <a:solidFill>
                        <a:srgbClr val="C4C1B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812880" y="1267560"/>
            <a:ext cx="34005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СХЕМА ПІДКЛЮЧЕННЯ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12880" y="1633320"/>
            <a:ext cx="3400560" cy="153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Що підключається до плати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812880" y="3294360"/>
            <a:ext cx="3400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Дисплей, підсвітка й кнопка BOOT уже є на платі.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812880" y="4015440"/>
            <a:ext cx="3400560" cy="87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Фоторезистор — на ADC1 (GPIO33), бо ADC2 не працює разом із Wi-Fi.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812880" y="5021280"/>
            <a:ext cx="34005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Акумулятор — у штатний роз'єм BAT, через вимикач на «+».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4521240" y="1063800"/>
            <a:ext cx="6857640" cy="4730400"/>
          </a:xfrm>
          <a:prstGeom prst="roundRect">
            <a:avLst>
              <a:gd name="adj" fmla="val 2148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Схема підключення: фоторезистор і резистор 10 кОм до GPIO33, зумер через 220 Ом до GPIO25, світлодіоди через 330 Ом до GPIO2 і GPIO15, акумулятор Li-Pol через вимикач у роз'єм BAT"/>
          <p:cNvPicPr/>
          <p:nvPr/>
        </p:nvPicPr>
        <p:blipFill>
          <a:blip r:embed="rId1"/>
          <a:stretch/>
        </p:blipFill>
        <p:spPr>
          <a:xfrm>
            <a:off x="5102280" y="1063800"/>
            <a:ext cx="5695560" cy="4730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АРХІТЕКТУРА ПЗ</a:t>
            </a:r>
            <a:endParaRPr lang="uk-U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5F2EC"/>
                </a:solidFill>
                <a:effectLst/>
                <a:uFillTx/>
                <a:latin typeface="IBM Plex Sans"/>
                <a:ea typeface="IBM Plex Sans"/>
              </a:rPr>
              <a:t>7 задач FreeRTOS на ESP-IDF</a:t>
            </a:r>
            <a:endParaRPr lang="uk-UA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"/>
          <p:cNvSpPr/>
          <p:nvPr/>
        </p:nvSpPr>
        <p:spPr>
          <a:xfrm>
            <a:off x="819000" y="1931760"/>
            <a:ext cx="1653120" cy="804600"/>
          </a:xfrm>
          <a:prstGeom prst="roundRect">
            <a:avLst>
              <a:gd name="adj" fmla="val 8676"/>
            </a:avLst>
          </a:prstGeom>
          <a:solidFill>
            <a:srgbClr val="1B2330"/>
          </a:solidFill>
          <a:ln w="12700">
            <a:solidFill>
              <a:srgbClr val="3A46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"/>
          <p:cNvSpPr/>
          <p:nvPr/>
        </p:nvSpPr>
        <p:spPr>
          <a:xfrm>
            <a:off x="952560" y="2090520"/>
            <a:ext cx="138636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5F2EC"/>
                </a:solidFill>
                <a:effectLst/>
                <a:uFillTx/>
                <a:latin typeface="IBM Plex Sans"/>
                <a:ea typeface="IBM Plex Sans"/>
              </a:rPr>
              <a:t>API alerts.in.ua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" name="Image 0" descr="arrow-right"/>
          <p:cNvPicPr/>
          <p:nvPr/>
        </p:nvPicPr>
        <p:blipFill>
          <a:blip r:embed="rId1"/>
          <a:stretch/>
        </p:blipFill>
        <p:spPr>
          <a:xfrm>
            <a:off x="2580480" y="2245320"/>
            <a:ext cx="35532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Shape 4"/>
          <p:cNvSpPr/>
          <p:nvPr/>
        </p:nvSpPr>
        <p:spPr>
          <a:xfrm>
            <a:off x="3044160" y="2032920"/>
            <a:ext cx="1653120" cy="601560"/>
          </a:xfrm>
          <a:prstGeom prst="roundRect">
            <a:avLst>
              <a:gd name="adj" fmla="val 11604"/>
            </a:avLst>
          </a:prstGeom>
          <a:solidFill>
            <a:srgbClr val="1B2330"/>
          </a:solidFill>
          <a:ln w="12700">
            <a:solidFill>
              <a:srgbClr val="3A46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3177360" y="2191680"/>
            <a:ext cx="1386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5F2EC"/>
                </a:solidFill>
                <a:effectLst/>
                <a:uFillTx/>
                <a:latin typeface="JetBrains Mono"/>
                <a:ea typeface="JetBrains Mono"/>
              </a:rPr>
              <a:t>fetch_task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1" descr="arrow-right"/>
          <p:cNvPicPr/>
          <p:nvPr/>
        </p:nvPicPr>
        <p:blipFill>
          <a:blip r:embed="rId2"/>
          <a:stretch/>
        </p:blipFill>
        <p:spPr>
          <a:xfrm>
            <a:off x="4805640" y="2245320"/>
            <a:ext cx="35532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Shape 6"/>
          <p:cNvSpPr/>
          <p:nvPr/>
        </p:nvSpPr>
        <p:spPr>
          <a:xfrm>
            <a:off x="5269320" y="1891080"/>
            <a:ext cx="1653120" cy="885960"/>
          </a:xfrm>
          <a:prstGeom prst="roundRect">
            <a:avLst>
              <a:gd name="adj" fmla="val 7880"/>
            </a:avLst>
          </a:prstGeom>
          <a:solidFill>
            <a:srgbClr val="1B2330"/>
          </a:solidFill>
          <a:ln w="127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5402520" y="2049840"/>
            <a:ext cx="138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5F2EC"/>
                </a:solidFill>
                <a:effectLst/>
                <a:uFillTx/>
                <a:latin typeface="JetBrains Mono"/>
                <a:ea typeface="JetBrains Mono"/>
              </a:rPr>
              <a:t>alert_queue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2" descr="arrow-right"/>
          <p:cNvPicPr/>
          <p:nvPr/>
        </p:nvPicPr>
        <p:blipFill>
          <a:blip r:embed="rId3"/>
          <a:stretch/>
        </p:blipFill>
        <p:spPr>
          <a:xfrm>
            <a:off x="7030800" y="2245320"/>
            <a:ext cx="35532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Shape 8"/>
          <p:cNvSpPr/>
          <p:nvPr/>
        </p:nvSpPr>
        <p:spPr>
          <a:xfrm>
            <a:off x="7494120" y="1891080"/>
            <a:ext cx="1653120" cy="885960"/>
          </a:xfrm>
          <a:prstGeom prst="roundRect">
            <a:avLst>
              <a:gd name="adj" fmla="val 7880"/>
            </a:avLst>
          </a:prstGeom>
          <a:solidFill>
            <a:srgbClr val="1B2330"/>
          </a:solidFill>
          <a:ln w="12700">
            <a:solidFill>
              <a:srgbClr val="3A46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7627680" y="2049840"/>
            <a:ext cx="1386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5F2EC"/>
                </a:solidFill>
                <a:effectLst/>
                <a:uFillTx/>
                <a:latin typeface="JetBrains Mono"/>
                <a:ea typeface="JetBrains Mono"/>
              </a:rPr>
              <a:t>render_task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3" descr="arrow-right"/>
          <p:cNvPicPr/>
          <p:nvPr/>
        </p:nvPicPr>
        <p:blipFill>
          <a:blip r:embed="rId4"/>
          <a:stretch/>
        </p:blipFill>
        <p:spPr>
          <a:xfrm>
            <a:off x="9255600" y="2245320"/>
            <a:ext cx="355320" cy="17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Shape 10"/>
          <p:cNvSpPr/>
          <p:nvPr/>
        </p:nvSpPr>
        <p:spPr>
          <a:xfrm>
            <a:off x="9719280" y="1931760"/>
            <a:ext cx="1653120" cy="804600"/>
          </a:xfrm>
          <a:prstGeom prst="roundRect">
            <a:avLst>
              <a:gd name="adj" fmla="val 8676"/>
            </a:avLst>
          </a:prstGeom>
          <a:solidFill>
            <a:srgbClr val="1B2330"/>
          </a:solidFill>
          <a:ln w="12700">
            <a:solidFill>
              <a:srgbClr val="3A465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9852480" y="2090520"/>
            <a:ext cx="1386360" cy="51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5F2EC"/>
                </a:solidFill>
                <a:effectLst/>
                <a:uFillTx/>
                <a:latin typeface="IBM Plex Sans"/>
                <a:ea typeface="IBM Plex Sans"/>
              </a:rPr>
              <a:t>Дисплей і сирена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2"/>
          <p:cNvSpPr/>
          <p:nvPr/>
        </p:nvSpPr>
        <p:spPr>
          <a:xfrm>
            <a:off x="812880" y="3037680"/>
            <a:ext cx="108831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Паралельно працюють: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3"/>
          <p:cNvSpPr/>
          <p:nvPr/>
        </p:nvSpPr>
        <p:spPr>
          <a:xfrm>
            <a:off x="812880" y="3576240"/>
            <a:ext cx="1990800" cy="1117080"/>
          </a:xfrm>
          <a:prstGeom prst="roundRect">
            <a:avLst>
              <a:gd name="adj" fmla="val 6819"/>
            </a:avLst>
          </a:prstGeom>
          <a:solidFill>
            <a:srgbClr val="1B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990720" y="3754080"/>
            <a:ext cx="168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wifi_task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5"/>
          <p:cNvSpPr/>
          <p:nvPr/>
        </p:nvSpPr>
        <p:spPr>
          <a:xfrm>
            <a:off x="990720" y="4053600"/>
            <a:ext cx="16862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Wi-Fi і перепідключення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6"/>
          <p:cNvSpPr/>
          <p:nvPr/>
        </p:nvSpPr>
        <p:spPr>
          <a:xfrm>
            <a:off x="2956680" y="3576240"/>
            <a:ext cx="1991160" cy="1117080"/>
          </a:xfrm>
          <a:prstGeom prst="roundRect">
            <a:avLst>
              <a:gd name="adj" fmla="val 6819"/>
            </a:avLst>
          </a:prstGeom>
          <a:solidFill>
            <a:srgbClr val="1B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7"/>
          <p:cNvSpPr/>
          <p:nvPr/>
        </p:nvSpPr>
        <p:spPr>
          <a:xfrm>
            <a:off x="3134160" y="3754080"/>
            <a:ext cx="168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buzzer_task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8"/>
          <p:cNvSpPr/>
          <p:nvPr/>
        </p:nvSpPr>
        <p:spPr>
          <a:xfrm>
            <a:off x="3134160" y="4053600"/>
            <a:ext cx="16862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неблокуюча сирена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9"/>
          <p:cNvSpPr/>
          <p:nvPr/>
        </p:nvSpPr>
        <p:spPr>
          <a:xfrm>
            <a:off x="5100480" y="3576240"/>
            <a:ext cx="1990800" cy="1117080"/>
          </a:xfrm>
          <a:prstGeom prst="roundRect">
            <a:avLst>
              <a:gd name="adj" fmla="val 6819"/>
            </a:avLst>
          </a:prstGeom>
          <a:solidFill>
            <a:srgbClr val="1B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0"/>
          <p:cNvSpPr/>
          <p:nvPr/>
        </p:nvSpPr>
        <p:spPr>
          <a:xfrm>
            <a:off x="5278320" y="3754080"/>
            <a:ext cx="168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button_task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1"/>
          <p:cNvSpPr/>
          <p:nvPr/>
        </p:nvSpPr>
        <p:spPr>
          <a:xfrm>
            <a:off x="5278320" y="4053600"/>
            <a:ext cx="16862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кнопка через переривання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2"/>
          <p:cNvSpPr/>
          <p:nvPr/>
        </p:nvSpPr>
        <p:spPr>
          <a:xfrm>
            <a:off x="7243920" y="3576240"/>
            <a:ext cx="1991160" cy="1117080"/>
          </a:xfrm>
          <a:prstGeom prst="roundRect">
            <a:avLst>
              <a:gd name="adj" fmla="val 6819"/>
            </a:avLst>
          </a:prstGeom>
          <a:solidFill>
            <a:srgbClr val="1B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3"/>
          <p:cNvSpPr/>
          <p:nvPr/>
        </p:nvSpPr>
        <p:spPr>
          <a:xfrm>
            <a:off x="7421760" y="3754080"/>
            <a:ext cx="168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brightness_task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4"/>
          <p:cNvSpPr/>
          <p:nvPr/>
        </p:nvSpPr>
        <p:spPr>
          <a:xfrm>
            <a:off x="7421760" y="4053600"/>
            <a:ext cx="1686240" cy="4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ПІ-регулятор яскравості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5"/>
          <p:cNvSpPr/>
          <p:nvPr/>
        </p:nvSpPr>
        <p:spPr>
          <a:xfrm>
            <a:off x="9387720" y="3576240"/>
            <a:ext cx="1990800" cy="1117080"/>
          </a:xfrm>
          <a:prstGeom prst="roundRect">
            <a:avLst>
              <a:gd name="adj" fmla="val 6819"/>
            </a:avLst>
          </a:prstGeom>
          <a:solidFill>
            <a:srgbClr val="1B23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6"/>
          <p:cNvSpPr/>
          <p:nvPr/>
        </p:nvSpPr>
        <p:spPr>
          <a:xfrm>
            <a:off x="9565560" y="3754080"/>
            <a:ext cx="1686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monitor_task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7"/>
          <p:cNvSpPr/>
          <p:nvPr/>
        </p:nvSpPr>
        <p:spPr>
          <a:xfrm>
            <a:off x="9565560" y="4053600"/>
            <a:ext cx="1686240" cy="25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82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навантаження CPU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8"/>
          <p:cNvSpPr/>
          <p:nvPr/>
        </p:nvSpPr>
        <p:spPr>
          <a:xfrm>
            <a:off x="812880" y="623844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5B4"/>
                </a:solidFill>
                <a:effectLst/>
                <a:uFillTx/>
                <a:latin typeface="IBM Plex Sans"/>
                <a:ea typeface="IBM Plex Sans"/>
              </a:rPr>
              <a:t>Черги FreeRTOS для обміну даними · м'ютекс для спільного стану · кожна задача — окремий компонент</a:t>
            </a:r>
            <a:endParaRPr lang="uk-U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ДАНІ ТА ВІДОБРАЖЕННЯ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27 символів замість кілобайтів JSON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"/>
          <p:cNvSpPr/>
          <p:nvPr/>
        </p:nvSpPr>
        <p:spPr>
          <a:xfrm>
            <a:off x="812880" y="1935360"/>
            <a:ext cx="10566000" cy="1391400"/>
          </a:xfrm>
          <a:prstGeom prst="roundRect">
            <a:avLst>
              <a:gd name="adj" fmla="val 7300"/>
            </a:avLst>
          </a:prstGeom>
          <a:solidFill>
            <a:srgbClr val="1218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915840" y="2189520"/>
            <a:ext cx="103597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4479"/>
              </a:lnSpc>
              <a:tabLst>
                <a:tab pos="0" algn="l"/>
              </a:tabLst>
            </a:pPr>
            <a:r>
              <a:rPr lang="en-US" sz="3200" b="0" u="none" spc="300" strike="noStrike">
                <a:solidFill>
                  <a:srgbClr val="6B7788"/>
                </a:solidFill>
                <a:effectLst/>
                <a:uFillTx/>
                <a:latin typeface="JetBrains Mono"/>
                <a:ea typeface="JetBrains Mono"/>
              </a:rPr>
              <a:t>NNNNNNNNNN</a:t>
            </a:r>
            <a:r>
              <a:rPr lang="en-US" sz="3200" b="0" u="none" spc="300" strike="noStrike">
                <a:solidFill>
                  <a:srgbClr val="E0483E"/>
                </a:solidFill>
                <a:effectLst/>
                <a:uFillTx/>
                <a:latin typeface="JetBrains Mono"/>
                <a:ea typeface="JetBrains Mono"/>
              </a:rPr>
              <a:t>A</a:t>
            </a:r>
            <a:r>
              <a:rPr lang="en-US" sz="3200" b="0" u="none" spc="300" strike="noStrike">
                <a:solidFill>
                  <a:srgbClr val="6B7788"/>
                </a:solidFill>
                <a:effectLst/>
                <a:uFillTx/>
                <a:latin typeface="JetBrains Mono"/>
                <a:ea typeface="JetBrains Mono"/>
              </a:rPr>
              <a:t>NNNNNNNNNN</a:t>
            </a:r>
            <a:r>
              <a:rPr lang="en-US" sz="3200" b="0" u="none" spc="300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P</a:t>
            </a:r>
            <a:r>
              <a:rPr lang="en-US" sz="3200" b="0" u="none" spc="300" strike="noStrike">
                <a:solidFill>
                  <a:srgbClr val="6B7788"/>
                </a:solidFill>
                <a:effectLst/>
                <a:uFillTx/>
                <a:latin typeface="JetBrains Mono"/>
                <a:ea typeface="JetBrains Mono"/>
              </a:rPr>
              <a:t>NNNNN</a:t>
            </a:r>
            <a:endParaRPr lang="uk-UA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915840" y="2859840"/>
            <a:ext cx="103597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algn="ctr"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AA5B4"/>
                </a:solidFill>
                <a:effectLst/>
                <a:uFillTx/>
                <a:latin typeface="IBM Plex Sans"/>
                <a:ea typeface="IBM Plex Sans"/>
              </a:rPr>
              <a:t>IoT-ендпоінт alerts.in.ua: один символ на область, ~30 байт, лише повітряні тривоги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812880" y="3753720"/>
            <a:ext cx="406080" cy="406080"/>
          </a:xfrm>
          <a:prstGeom prst="roundRect">
            <a:avLst>
              <a:gd name="adj" fmla="val 12500"/>
            </a:avLst>
          </a:prstGeom>
          <a:solidFill>
            <a:srgbClr val="C835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1371600" y="3692880"/>
            <a:ext cx="291240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A</a:t>
            </a: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 — тривога по всій області: червона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7"/>
          <p:cNvSpPr/>
          <p:nvPr/>
        </p:nvSpPr>
        <p:spPr>
          <a:xfrm>
            <a:off x="4402800" y="3753720"/>
            <a:ext cx="406080" cy="406080"/>
          </a:xfrm>
          <a:prstGeom prst="roundRect">
            <a:avLst>
              <a:gd name="adj" fmla="val 12500"/>
            </a:avLst>
          </a:prstGeom>
          <a:solidFill>
            <a:srgbClr val="E8A3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4961520" y="3692880"/>
            <a:ext cx="291240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P</a:t>
            </a: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 — у частині області: янтарна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7992720" y="3632040"/>
            <a:ext cx="487080" cy="649800"/>
          </a:xfrm>
          <a:prstGeom prst="roundRect">
            <a:avLst>
              <a:gd name="adj" fmla="val 10423"/>
            </a:avLst>
          </a:prstGeom>
          <a:solidFill>
            <a:srgbClr val="1218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8094240" y="3708360"/>
            <a:ext cx="33444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0483E"/>
                </a:solidFill>
                <a:effectLst/>
                <a:uFillTx/>
                <a:latin typeface="JetBrains Mono"/>
                <a:ea typeface="JetBrains Mono"/>
              </a:rPr>
              <a:t>ERR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8632440" y="3692880"/>
            <a:ext cx="2828880" cy="55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помилка — без застарілих даних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НАДІЙНІСТЬ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Пристрій не зависає і не бреше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2"/>
          <p:cNvSpPr/>
          <p:nvPr/>
        </p:nvSpPr>
        <p:spPr>
          <a:xfrm>
            <a:off x="816120" y="1938600"/>
            <a:ext cx="5175000" cy="1392840"/>
          </a:xfrm>
          <a:prstGeom prst="roundRect">
            <a:avLst>
              <a:gd name="adj" fmla="val 7066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0" descr="Activity"/>
          <p:cNvPicPr/>
          <p:nvPr/>
        </p:nvPicPr>
        <p:blipFill>
          <a:blip r:embed="rId1"/>
          <a:stretch/>
        </p:blipFill>
        <p:spPr>
          <a:xfrm>
            <a:off x="1073160" y="219564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Text 3"/>
          <p:cNvSpPr/>
          <p:nvPr/>
        </p:nvSpPr>
        <p:spPr>
          <a:xfrm>
            <a:off x="1631880" y="2195640"/>
            <a:ext cx="42249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Watchdog-таймер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631880" y="2576880"/>
            <a:ext cx="4224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Кожна задача під наглядом; зависання — автоматичне перезавантаження.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"/>
          <p:cNvSpPr/>
          <p:nvPr/>
        </p:nvSpPr>
        <p:spPr>
          <a:xfrm>
            <a:off x="6200640" y="1938600"/>
            <a:ext cx="5175000" cy="1392840"/>
          </a:xfrm>
          <a:prstGeom prst="roundRect">
            <a:avLst>
              <a:gd name="adj" fmla="val 7066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 1" descr="CheckCircle"/>
          <p:cNvPicPr/>
          <p:nvPr/>
        </p:nvPicPr>
        <p:blipFill>
          <a:blip r:embed="rId2"/>
          <a:stretch/>
        </p:blipFill>
        <p:spPr>
          <a:xfrm>
            <a:off x="6458040" y="219564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6"/>
          <p:cNvSpPr/>
          <p:nvPr/>
        </p:nvSpPr>
        <p:spPr>
          <a:xfrm>
            <a:off x="7016760" y="2195640"/>
            <a:ext cx="42249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Валідація даних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7016760" y="2576880"/>
            <a:ext cx="4224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Неправильна довжина, символ чи JSON — відповідь відхиляється.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816120" y="3540960"/>
            <a:ext cx="5175000" cy="1392840"/>
          </a:xfrm>
          <a:prstGeom prst="roundRect">
            <a:avLst>
              <a:gd name="adj" fmla="val 7066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Image 2" descr="Globe"/>
          <p:cNvPicPr/>
          <p:nvPr/>
        </p:nvPicPr>
        <p:blipFill>
          <a:blip r:embed="rId3"/>
          <a:stretch/>
        </p:blipFill>
        <p:spPr>
          <a:xfrm>
            <a:off x="1073160" y="379836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9"/>
          <p:cNvSpPr/>
          <p:nvPr/>
        </p:nvSpPr>
        <p:spPr>
          <a:xfrm>
            <a:off x="1631880" y="3798360"/>
            <a:ext cx="42249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Мережа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1631880" y="4179240"/>
            <a:ext cx="4224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Перепідключення із затримкою від 2 до 60 с, далі — режим налаштування.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6200640" y="3540960"/>
            <a:ext cx="5175000" cy="1392840"/>
          </a:xfrm>
          <a:prstGeom prst="roundRect">
            <a:avLst>
              <a:gd name="adj" fmla="val 7066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 3" descr="Lock"/>
          <p:cNvPicPr/>
          <p:nvPr/>
        </p:nvPicPr>
        <p:blipFill>
          <a:blip r:embed="rId4"/>
          <a:stretch/>
        </p:blipFill>
        <p:spPr>
          <a:xfrm>
            <a:off x="6458040" y="379836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Text 12"/>
          <p:cNvSpPr/>
          <p:nvPr/>
        </p:nvSpPr>
        <p:spPr>
          <a:xfrm>
            <a:off x="7016760" y="3798360"/>
            <a:ext cx="422496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Безпека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7016760" y="4179240"/>
            <a:ext cx="4224960" cy="52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TLS з перевіркою сертифіката; токен у файлі .env, поза git.</a:t>
            </a:r>
            <a:endParaRPr lang="uk-UA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НАЛАШТУВАННЯ І ЯСКРАВІСТЬ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Без програмування й без перепрошивки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"/>
          <p:cNvSpPr/>
          <p:nvPr/>
        </p:nvSpPr>
        <p:spPr>
          <a:xfrm>
            <a:off x="816120" y="1938600"/>
            <a:ext cx="5175000" cy="4103280"/>
          </a:xfrm>
          <a:prstGeom prst="roundRect">
            <a:avLst>
              <a:gd name="adj" fmla="val 2399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1123920" y="2246400"/>
            <a:ext cx="46958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Веб-налаштування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1123920" y="2703600"/>
            <a:ext cx="4695840" cy="12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marL="243720" indent="-243720" defTabSz="914400">
              <a:lnSpc>
                <a:spcPts val="2401"/>
              </a:lnSpc>
              <a:buClr>
                <a:srgbClr val="4A5568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Утримати кнопку BOOT 3 с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ts val="2401"/>
              </a:lnSpc>
              <a:buClr>
                <a:srgbClr val="4A5568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Підключитися до мережі «ESP32-Setup»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ts val="2401"/>
              </a:lnSpc>
              <a:buClr>
                <a:srgbClr val="4A5568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Відкрити 192.168.4.1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43720" indent="-243720" defTabSz="914400">
              <a:lnSpc>
                <a:spcPts val="2401"/>
              </a:lnSpc>
              <a:buClr>
                <a:srgbClr val="4A5568"/>
              </a:buClr>
              <a:buFont typeface="OpenSymbol"/>
              <a:buAutoNum type="arabicPeriod"/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Вибрати область і Wi-Fi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1123920" y="4075200"/>
            <a:ext cx="4695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Вибір зберігається в NVS і переживає перезавантаження.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6200640" y="1938600"/>
            <a:ext cx="5175000" cy="4103280"/>
          </a:xfrm>
          <a:prstGeom prst="roundRect">
            <a:avLst>
              <a:gd name="adj" fmla="val 2399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6508800" y="2246400"/>
            <a:ext cx="46958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Адаптивна яскравість</a:t>
            </a:r>
            <a:endParaRPr lang="uk-U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6508800" y="2703600"/>
            <a:ext cx="4695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239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ПІ-регулятор з anti-windup плавно підлаштовує підсвітку під освітлення в кімнаті.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6508800" y="3425040"/>
            <a:ext cx="4559040" cy="466920"/>
          </a:xfrm>
          <a:prstGeom prst="roundRect">
            <a:avLst>
              <a:gd name="adj" fmla="val 10870"/>
            </a:avLst>
          </a:prstGeom>
          <a:solidFill>
            <a:srgbClr val="EAE5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0"/>
          <p:cNvSpPr/>
          <p:nvPr/>
        </p:nvSpPr>
        <p:spPr>
          <a:xfrm>
            <a:off x="6635880" y="3552120"/>
            <a:ext cx="443412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21821"/>
                </a:solidFill>
                <a:effectLst/>
                <a:uFillTx/>
                <a:latin typeface="JetBrains Mono"/>
                <a:ea typeface="JetBrains Mono"/>
              </a:rPr>
              <a:t>setpoint = min + lux · (max − min)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6508800" y="4044600"/>
            <a:ext cx="469584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IBM Plex Sans"/>
                <a:ea typeface="IBM Plex Sans"/>
              </a:rPr>
              <a:t>Вночі дисплей не сліпить, удень його добре видно.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8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E8A33D"/>
                </a:solidFill>
                <a:effectLst/>
                <a:uFillTx/>
                <a:latin typeface="JetBrains Mono"/>
                <a:ea typeface="JetBrains Mono"/>
              </a:rPr>
              <a:t>ТЕСТУВАННЯ</a:t>
            </a:r>
            <a:endParaRPr lang="uk-U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5F2EC"/>
                </a:solidFill>
                <a:effectLst/>
                <a:uFillTx/>
                <a:latin typeface="IBM Plex Sans"/>
                <a:ea typeface="IBM Plex Sans"/>
              </a:rPr>
              <a:t>Ключова логіка покрита тестами Unity</a:t>
            </a:r>
            <a:endParaRPr lang="uk-UA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812520" y="1998720"/>
            <a:ext cx="3386880" cy="360"/>
          </a:xfrm>
          <a:prstGeom prst="line">
            <a:avLst/>
          </a:prstGeom>
          <a:ln w="254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812880" y="2214720"/>
            <a:ext cx="348804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7999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E8A33D"/>
                </a:solidFill>
                <a:effectLst/>
                <a:uFillTx/>
                <a:latin typeface="IBM Plex Sans"/>
                <a:ea typeface="IBM Plex Sans"/>
              </a:rPr>
              <a:t>16</a:t>
            </a:r>
            <a:endParaRPr lang="uk-UA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812880" y="3306960"/>
            <a:ext cx="34880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тестів парсера відповіді API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"/>
          <p:cNvSpPr/>
          <p:nvPr/>
        </p:nvSpPr>
        <p:spPr>
          <a:xfrm>
            <a:off x="4402440" y="1998720"/>
            <a:ext cx="3386880" cy="360"/>
          </a:xfrm>
          <a:prstGeom prst="line">
            <a:avLst/>
          </a:prstGeom>
          <a:ln w="254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4402800" y="2214720"/>
            <a:ext cx="348804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7999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E8A33D"/>
                </a:solidFill>
                <a:effectLst/>
                <a:uFillTx/>
                <a:latin typeface="IBM Plex Sans"/>
                <a:ea typeface="IBM Plex Sans"/>
              </a:rPr>
              <a:t>9</a:t>
            </a:r>
            <a:endParaRPr lang="uk-UA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4402800" y="3306960"/>
            <a:ext cx="34880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тестів ПІ-регулятора яскравості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7992360" y="1998720"/>
            <a:ext cx="3386520" cy="360"/>
          </a:xfrm>
          <a:prstGeom prst="line">
            <a:avLst/>
          </a:prstGeom>
          <a:ln w="25400">
            <a:solidFill>
              <a:srgbClr val="E8A3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uk-UA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7992720" y="2214720"/>
            <a:ext cx="3488040" cy="104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7999"/>
              </a:lnSpc>
              <a:tabLst>
                <a:tab pos="0" algn="l"/>
              </a:tabLst>
            </a:pPr>
            <a:r>
              <a:rPr lang="en-US" sz="8000" b="1" u="none" strike="noStrike">
                <a:solidFill>
                  <a:srgbClr val="E8A33D"/>
                </a:solidFill>
                <a:effectLst/>
                <a:uFillTx/>
                <a:latin typeface="IBM Plex Sans"/>
                <a:ea typeface="IBM Plex Sans"/>
              </a:rPr>
              <a:t>25/25</a:t>
            </a:r>
            <a:endParaRPr lang="uk-UA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0"/>
          <p:cNvSpPr/>
          <p:nvPr/>
        </p:nvSpPr>
        <p:spPr>
          <a:xfrm>
            <a:off x="7992720" y="3306960"/>
            <a:ext cx="34880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D1DC"/>
                </a:solidFill>
                <a:effectLst/>
                <a:uFillTx/>
                <a:latin typeface="IBM Plex Sans"/>
                <a:ea typeface="IBM Plex Sans"/>
              </a:rPr>
              <a:t>проходять успішно</a:t>
            </a:r>
            <a:endParaRPr lang="uk-UA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812880" y="3926520"/>
            <a:ext cx="10883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5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AA5B4"/>
                </a:solidFill>
                <a:effectLst/>
                <a:uFillTx/>
                <a:latin typeface="IBM Plex Sans"/>
                <a:ea typeface="IBM Plex Sans"/>
              </a:rPr>
              <a:t>Логіка винесена в «чисті» функції без залежності від обладнання: тести йдуть на комп'ютері, окремий набір — на самій платі.</a:t>
            </a:r>
            <a:endParaRPr lang="uk-UA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РЕЗУЛЬТАТИ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Що зроблено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Image 0" descr="CheckCircle"/>
          <p:cNvPicPr/>
          <p:nvPr/>
        </p:nvPicPr>
        <p:blipFill>
          <a:blip r:embed="rId1"/>
          <a:stretch/>
        </p:blipFill>
        <p:spPr>
          <a:xfrm>
            <a:off x="812880" y="193536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 2"/>
          <p:cNvSpPr/>
          <p:nvPr/>
        </p:nvSpPr>
        <p:spPr>
          <a:xfrm>
            <a:off x="1295280" y="1955880"/>
            <a:ext cx="103860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Пристрій показує карту тривог по всіх областях і подає сигнал для вибраної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1" descr="CheckCircle"/>
          <p:cNvPicPr/>
          <p:nvPr/>
        </p:nvPicPr>
        <p:blipFill>
          <a:blip r:embed="rId2"/>
          <a:stretch/>
        </p:blipFill>
        <p:spPr>
          <a:xfrm>
            <a:off x="812880" y="24181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3"/>
          <p:cNvSpPr/>
          <p:nvPr/>
        </p:nvSpPr>
        <p:spPr>
          <a:xfrm>
            <a:off x="1295280" y="2438280"/>
            <a:ext cx="103860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Багатозадачна архітектура на FreeRTOS із сімома задачами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2" descr="CheckCircle"/>
          <p:cNvPicPr/>
          <p:nvPr/>
        </p:nvPicPr>
        <p:blipFill>
          <a:blip r:embed="rId3"/>
          <a:stretch/>
        </p:blipFill>
        <p:spPr>
          <a:xfrm>
            <a:off x="812880" y="290052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4"/>
          <p:cNvSpPr/>
          <p:nvPr/>
        </p:nvSpPr>
        <p:spPr>
          <a:xfrm>
            <a:off x="1295280" y="2921040"/>
            <a:ext cx="103860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Захист від зависань, збоїв мережі й некоректних даних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Image 3" descr="CheckCircle"/>
          <p:cNvPicPr/>
          <p:nvPr/>
        </p:nvPicPr>
        <p:blipFill>
          <a:blip r:embed="rId4"/>
          <a:stretch/>
        </p:blipFill>
        <p:spPr>
          <a:xfrm>
            <a:off x="812880" y="33832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Text 5"/>
          <p:cNvSpPr/>
          <p:nvPr/>
        </p:nvSpPr>
        <p:spPr>
          <a:xfrm>
            <a:off x="1295280" y="3403440"/>
            <a:ext cx="103860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Налаштування через веб-інтерфейс без перепрошивки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5" name="Image 4" descr="CheckCircle"/>
          <p:cNvPicPr/>
          <p:nvPr/>
        </p:nvPicPr>
        <p:blipFill>
          <a:blip r:embed="rId5"/>
          <a:stretch/>
        </p:blipFill>
        <p:spPr>
          <a:xfrm>
            <a:off x="812880" y="386568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Text 6"/>
          <p:cNvSpPr/>
          <p:nvPr/>
        </p:nvSpPr>
        <p:spPr>
          <a:xfrm>
            <a:off x="1295280" y="3886200"/>
            <a:ext cx="1038600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08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Ключова логіка покрита автоматичними тестами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 0"/>
          <p:cNvSpPr/>
          <p:nvPr/>
        </p:nvSpPr>
        <p:spPr>
          <a:xfrm>
            <a:off x="812880" y="81288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pc="99" strike="noStrike">
                <a:solidFill>
                  <a:srgbClr val="B8322B"/>
                </a:solidFill>
                <a:effectLst/>
                <a:uFillTx/>
                <a:latin typeface="JetBrains Mono"/>
                <a:ea typeface="JetBrains Mono"/>
              </a:rPr>
              <a:t>ПЕРСПЕКТИВИ</a:t>
            </a:r>
            <a:endParaRPr lang="uk-U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812880" y="1127880"/>
            <a:ext cx="1088316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Куди розвивати далі</a:t>
            </a:r>
            <a:endParaRPr lang="uk-UA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"/>
          <p:cNvSpPr/>
          <p:nvPr/>
        </p:nvSpPr>
        <p:spPr>
          <a:xfrm>
            <a:off x="816120" y="1938600"/>
            <a:ext cx="5175000" cy="1062360"/>
          </a:xfrm>
          <a:prstGeom prst="roundRect">
            <a:avLst>
              <a:gd name="adj" fmla="val 9261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0" descr="Home"/>
          <p:cNvPicPr/>
          <p:nvPr/>
        </p:nvPicPr>
        <p:blipFill>
          <a:blip r:embed="rId1"/>
          <a:stretch/>
        </p:blipFill>
        <p:spPr>
          <a:xfrm>
            <a:off x="1073160" y="22921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3"/>
          <p:cNvSpPr/>
          <p:nvPr/>
        </p:nvSpPr>
        <p:spPr>
          <a:xfrm>
            <a:off x="1631880" y="2195640"/>
            <a:ext cx="422496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Налаштування за IP-адресою в домашній мережі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6200640" y="1938600"/>
            <a:ext cx="5175000" cy="1062360"/>
          </a:xfrm>
          <a:prstGeom prst="roundRect">
            <a:avLst>
              <a:gd name="adj" fmla="val 9261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3" name="Image 1" descr="Cloud"/>
          <p:cNvPicPr/>
          <p:nvPr/>
        </p:nvPicPr>
        <p:blipFill>
          <a:blip r:embed="rId2"/>
          <a:stretch/>
        </p:blipFill>
        <p:spPr>
          <a:xfrm>
            <a:off x="6458040" y="229212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 5"/>
          <p:cNvSpPr/>
          <p:nvPr/>
        </p:nvSpPr>
        <p:spPr>
          <a:xfrm>
            <a:off x="7016760" y="2332800"/>
            <a:ext cx="42249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Оновлення прошивки «по повітрю» (OTA)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6"/>
          <p:cNvSpPr/>
          <p:nvPr/>
        </p:nvSpPr>
        <p:spPr>
          <a:xfrm>
            <a:off x="816120" y="3210840"/>
            <a:ext cx="5175000" cy="869760"/>
          </a:xfrm>
          <a:prstGeom prst="roundRect">
            <a:avLst>
              <a:gd name="adj" fmla="val 11314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2" descr="Warning"/>
          <p:cNvPicPr/>
          <p:nvPr/>
        </p:nvPicPr>
        <p:blipFill>
          <a:blip r:embed="rId3"/>
          <a:stretch/>
        </p:blipFill>
        <p:spPr>
          <a:xfrm>
            <a:off x="1073160" y="346824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7"/>
          <p:cNvSpPr/>
          <p:nvPr/>
        </p:nvSpPr>
        <p:spPr>
          <a:xfrm>
            <a:off x="1631880" y="3508920"/>
            <a:ext cx="42249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Відображення інших типів загроз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8"/>
          <p:cNvSpPr/>
          <p:nvPr/>
        </p:nvSpPr>
        <p:spPr>
          <a:xfrm>
            <a:off x="6200640" y="3210840"/>
            <a:ext cx="5175000" cy="869760"/>
          </a:xfrm>
          <a:prstGeom prst="roundRect">
            <a:avLst>
              <a:gd name="adj" fmla="val 11314"/>
            </a:avLst>
          </a:prstGeom>
          <a:solidFill>
            <a:srgbClr val="FFFDF8"/>
          </a:solidFill>
          <a:ln w="6350">
            <a:solidFill>
              <a:srgbClr val="DDD7C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uk-U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3" descr="Tool"/>
          <p:cNvPicPr/>
          <p:nvPr/>
        </p:nvPicPr>
        <p:blipFill>
          <a:blip r:embed="rId4"/>
          <a:stretch/>
        </p:blipFill>
        <p:spPr>
          <a:xfrm>
            <a:off x="6458040" y="3468240"/>
            <a:ext cx="355320" cy="35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Text 9"/>
          <p:cNvSpPr/>
          <p:nvPr/>
        </p:nvSpPr>
        <p:spPr>
          <a:xfrm>
            <a:off x="7016760" y="3508920"/>
            <a:ext cx="4224960" cy="2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216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21821"/>
                </a:solidFill>
                <a:effectLst/>
                <a:uFillTx/>
                <a:latin typeface="IBM Plex Sans"/>
                <a:ea typeface="IBM Plex Sans"/>
              </a:rPr>
              <a:t>Власна друкована плата й корпус</a:t>
            </a:r>
            <a:endParaRPr lang="uk-UA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B8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812880" y="2720520"/>
            <a:ext cx="10883160" cy="82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6301"/>
              </a:lnSpc>
              <a:tabLst>
                <a:tab pos="0" algn="l"/>
              </a:tabLst>
            </a:pPr>
            <a:r>
              <a:rPr lang="en-US" sz="6000" b="1" u="none" strike="noStrike">
                <a:solidFill>
                  <a:srgbClr val="F5F2EC"/>
                </a:solidFill>
                <a:effectLst/>
                <a:uFillTx/>
                <a:latin typeface="IBM Plex Sans"/>
                <a:ea typeface="IBM Plex Sans"/>
              </a:rPr>
              <a:t>Дякую за увагу!</a:t>
            </a:r>
            <a:endParaRPr lang="uk-UA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812880" y="6238440"/>
            <a:ext cx="1088316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8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8DCD8"/>
                </a:solidFill>
                <a:effectLst/>
                <a:uFillTx/>
                <a:latin typeface="JetBrains Mono"/>
                <a:ea typeface="JetBrains Mono"/>
              </a:rPr>
              <a:t>alertinua · ESP32 · FreeRTOS · alerts.in.ua </a:t>
            </a:r>
            <a:r>
              <a:rPr lang="en-US" sz="1200" b="0" u="none" strike="noStrike">
                <a:solidFill>
                  <a:srgbClr val="F8DCD8"/>
                </a:solidFill>
                <a:effectLst/>
                <a:uFillTx/>
                <a:latin typeface="JetBrains Mono"/>
                <a:ea typeface="JetBrains Mono"/>
              </a:rPr>
              <a:t>· created </a:t>
            </a:r>
            <a:endParaRPr lang="uk-UA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2026-09-26T09:59:10Z</dcterms:created>
  <dc:creator>PptxGenJS</dc:creator>
  <dc:description/>
  <dc:language>uk-UA</dc:language>
  <cp:lastModifiedBy/>
  <dcterms:modified xsi:type="dcterms:W3CDTF">2026-09-26T13:03:36Z</dcterms:modified>
  <cp:revision>4</cp:revision>
  <dc:subject>PptxGenJS Presentation</dc:subject>
  <dc:title>alertinua — захист диплому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